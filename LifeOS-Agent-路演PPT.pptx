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B28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58368"/>
            <a:ext cx="6675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</a:rPr>
              <a:t>LifeOS Agent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713232" y="1463040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</a:rPr>
              <a:t>伴随式自进化个人成长智能体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" y="2057400"/>
            <a:ext cx="557784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用 Agent Harness / Memory / Skills / Dreaming，把日常记录变成可追踪、可反馈、可进化的成长系统。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1520" y="29718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EEAD4">
              <a:alpha val="16000"/>
            </a:srgbClr>
          </a:solidFill>
          <a:ln w="12700">
            <a:solidFill>
              <a:srgbClr val="5EEAD4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3044952"/>
            <a:ext cx="7406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5EEAD4"/>
                </a:solidFill>
              </a:rPr>
              <a:t>Memory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874520" y="29718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84248" y="3044952"/>
            <a:ext cx="7406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A78BFA"/>
                </a:solidFill>
              </a:rPr>
              <a:t>Skills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017520" y="29718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EEAD4">
              <a:alpha val="16000"/>
            </a:srgbClr>
          </a:solidFill>
          <a:ln w="12700">
            <a:solidFill>
              <a:srgbClr val="5EEAD4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27248" y="3044952"/>
            <a:ext cx="7406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5EEAD4"/>
                </a:solidFill>
              </a:rPr>
              <a:t>Dreaming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60520" y="29718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70248" y="3044952"/>
            <a:ext cx="7406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A78BFA"/>
                </a:solidFill>
              </a:rPr>
              <a:t>Harness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03520" y="29718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EEAD4">
              <a:alpha val="16000"/>
            </a:srgbClr>
          </a:solidFill>
          <a:ln w="12700">
            <a:solidFill>
              <a:srgbClr val="5EEAD4">
                <a:alpha val="6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3044952"/>
            <a:ext cx="7406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5EEAD4"/>
                </a:solidFill>
              </a:rPr>
              <a:t>File-system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15200" y="1078992"/>
            <a:ext cx="3383280" cy="3383280"/>
          </a:xfrm>
          <a:prstGeom prst="ellipse">
            <a:avLst/>
          </a:prstGeom>
          <a:solidFill>
            <a:srgbClr val="5EEAD4">
              <a:alpha val="12000"/>
            </a:srgbClr>
          </a:solidFill>
          <a:ln w="2540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99248" y="1463040"/>
            <a:ext cx="2615184" cy="2615184"/>
          </a:xfrm>
          <a:prstGeom prst="ellipse">
            <a:avLst/>
          </a:prstGeom>
          <a:solidFill>
            <a:srgbClr val="111B3B">
              <a:alpha val="92000"/>
            </a:srgbClr>
          </a:solidFill>
          <a:ln w="1905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2121408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</a:rPr>
              <a:t>OS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8348472" y="2788920"/>
            <a:ext cx="1325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80" dirty="0">
                <a:solidFill>
                  <a:srgbClr val="5EEAD4"/>
                </a:solidFill>
              </a:rPr>
              <a:t>LIFE CORE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20840" y="5074920"/>
            <a:ext cx="4526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C768"/>
                </a:solidFill>
              </a:rPr>
              <a:t>融修仙之框架，铸Agent工程之核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A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84048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5EEAD4"/>
                </a:solidFill>
              </a:rPr>
              <a:t>ROADMAP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58368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0"/>
              </a:rPr>
              <a:t>路演目录：三段式讲清 LifeOS Agent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CA3AF"/>
                </a:solidFill>
              </a:rPr>
              <a:t>先讲为什么，再讲产品体验，最后讲 Agent 工程核心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749808" y="1874520"/>
            <a:ext cx="3273552" cy="3429000"/>
          </a:xfrm>
          <a:prstGeom prst="roundRect">
            <a:avLst>
              <a:gd name="adj" fmla="val 2235"/>
            </a:avLst>
          </a:prstGeom>
          <a:solidFill>
            <a:srgbClr val="0B1732">
              <a:alpha val="90000"/>
            </a:srgbClr>
          </a:solidFill>
          <a:ln w="1587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24128" y="2157984"/>
            <a:ext cx="56692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5EEAD4"/>
                </a:solidFill>
              </a:rPr>
              <a:t>一</a:t>
            </a:r>
            <a:endParaRPr lang="en-US" sz="3100" dirty="0"/>
          </a:p>
        </p:txBody>
      </p:sp>
      <p:sp>
        <p:nvSpPr>
          <p:cNvPr id="36" name="Text 34"/>
          <p:cNvSpPr/>
          <p:nvPr/>
        </p:nvSpPr>
        <p:spPr>
          <a:xfrm>
            <a:off x="1709928" y="217627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为什么做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709928" y="253288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9CA3AF"/>
                </a:solidFill>
              </a:rPr>
              <a:t>需求与产品定位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1133856" y="3090672"/>
            <a:ext cx="201168" cy="201168"/>
          </a:xfrm>
          <a:prstGeom prst="ellipse">
            <a:avLst/>
          </a:prstGeom>
          <a:solidFill>
            <a:srgbClr val="5EEAD4">
              <a:alpha val="82000"/>
            </a:srgbClr>
          </a:solidFill>
          <a:ln w="1270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99616" y="3054096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9E2F2"/>
                </a:solidFill>
              </a:rPr>
              <a:t>1. 长期独自学习的真实痛点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1133856" y="3621024"/>
            <a:ext cx="201168" cy="201168"/>
          </a:xfrm>
          <a:prstGeom prst="ellipse">
            <a:avLst/>
          </a:prstGeom>
          <a:solidFill>
            <a:srgbClr val="5EEAD4">
              <a:alpha val="82000"/>
            </a:srgbClr>
          </a:solidFill>
          <a:ln w="1270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99616" y="3584448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9E2F2"/>
                </a:solidFill>
              </a:rPr>
              <a:t>2. 修仙框架如何映射产品机制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1133856" y="4151376"/>
            <a:ext cx="201168" cy="201168"/>
          </a:xfrm>
          <a:prstGeom prst="ellipse">
            <a:avLst/>
          </a:prstGeom>
          <a:solidFill>
            <a:srgbClr val="5EEAD4">
              <a:alpha val="82000"/>
            </a:srgbClr>
          </a:solidFill>
          <a:ln w="1270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99616" y="4114800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9E2F2"/>
                </a:solidFill>
              </a:rPr>
              <a:t>3. 境界进度不是普通打卡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4553712" y="1874520"/>
            <a:ext cx="3273552" cy="3429000"/>
          </a:xfrm>
          <a:prstGeom prst="roundRect">
            <a:avLst>
              <a:gd name="adj" fmla="val 2235"/>
            </a:avLst>
          </a:prstGeom>
          <a:solidFill>
            <a:srgbClr val="101336">
              <a:alpha val="90000"/>
            </a:srgbClr>
          </a:solidFill>
          <a:ln w="1587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28032" y="2157984"/>
            <a:ext cx="56692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A78BFA"/>
                </a:solidFill>
              </a:rPr>
              <a:t>二</a:t>
            </a:r>
            <a:endParaRPr lang="en-US" sz="3100" dirty="0"/>
          </a:p>
        </p:txBody>
      </p:sp>
      <p:sp>
        <p:nvSpPr>
          <p:cNvPr id="46" name="Text 44"/>
          <p:cNvSpPr/>
          <p:nvPr/>
        </p:nvSpPr>
        <p:spPr>
          <a:xfrm>
            <a:off x="5513832" y="217627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怎么使用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513832" y="253288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9CA3AF"/>
                </a:solidFill>
              </a:rPr>
              <a:t>核心功能与体验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4937760" y="3090672"/>
            <a:ext cx="201168" cy="201168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3054096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9E2F2"/>
                </a:solidFill>
              </a:rPr>
              <a:t>1. 一段日记触发完整成长闭环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4937760" y="3621024"/>
            <a:ext cx="201168" cy="201168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0" y="3584448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9E2F2"/>
                </a:solidFill>
              </a:rPr>
              <a:t>2. 洞府、长河、灵根与内核舱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4937760" y="4151376"/>
            <a:ext cx="201168" cy="201168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0" y="4114800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9E2F2"/>
                </a:solidFill>
              </a:rPr>
              <a:t>3. Demo 主线与视觉记忆点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8357616" y="1874520"/>
            <a:ext cx="3273552" cy="3429000"/>
          </a:xfrm>
          <a:prstGeom prst="roundRect">
            <a:avLst>
              <a:gd name="adj" fmla="val 2235"/>
            </a:avLst>
          </a:prstGeom>
          <a:solidFill>
            <a:srgbClr val="0B1732">
              <a:alpha val="90000"/>
            </a:srgbClr>
          </a:solidFill>
          <a:ln w="15875">
            <a:solidFill>
              <a:srgbClr val="F6C768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631936" y="2157984"/>
            <a:ext cx="56692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6C768"/>
                </a:solidFill>
              </a:rPr>
              <a:t>三</a:t>
            </a:r>
            <a:endParaRPr lang="en-US" sz="3100" dirty="0"/>
          </a:p>
        </p:txBody>
      </p:sp>
      <p:sp>
        <p:nvSpPr>
          <p:cNvPr id="56" name="Text 54"/>
          <p:cNvSpPr/>
          <p:nvPr/>
        </p:nvSpPr>
        <p:spPr>
          <a:xfrm>
            <a:off x="9317736" y="217627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怎么实现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317736" y="253288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9CA3AF"/>
                </a:solidFill>
              </a:rPr>
              <a:t>Agent 工程亮点</a:t>
            </a:r>
            <a:endParaRPr lang="en-US" sz="1060" dirty="0"/>
          </a:p>
        </p:txBody>
      </p:sp>
      <p:sp>
        <p:nvSpPr>
          <p:cNvPr id="58" name="Shape 56"/>
          <p:cNvSpPr/>
          <p:nvPr/>
        </p:nvSpPr>
        <p:spPr>
          <a:xfrm>
            <a:off x="8741664" y="3090672"/>
            <a:ext cx="201168" cy="201168"/>
          </a:xfrm>
          <a:prstGeom prst="ellipse">
            <a:avLst/>
          </a:prstGeom>
          <a:solidFill>
            <a:srgbClr val="F6C768">
              <a:alpha val="82000"/>
            </a:srgbClr>
          </a:solidFill>
          <a:ln w="12700">
            <a:solidFill>
              <a:srgbClr val="F6C768">
                <a:alpha val="8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07424" y="3054096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9E2F2"/>
                </a:solidFill>
              </a:rPr>
              <a:t>1. Harness 可观测运行链路</a:t>
            </a:r>
            <a:endParaRPr lang="en-US" sz="1060" dirty="0"/>
          </a:p>
        </p:txBody>
      </p:sp>
      <p:sp>
        <p:nvSpPr>
          <p:cNvPr id="60" name="Shape 58"/>
          <p:cNvSpPr/>
          <p:nvPr/>
        </p:nvSpPr>
        <p:spPr>
          <a:xfrm>
            <a:off x="8741664" y="3621024"/>
            <a:ext cx="201168" cy="201168"/>
          </a:xfrm>
          <a:prstGeom prst="ellipse">
            <a:avLst/>
          </a:prstGeom>
          <a:solidFill>
            <a:srgbClr val="F6C768">
              <a:alpha val="82000"/>
            </a:srgbClr>
          </a:solidFill>
          <a:ln w="12700">
            <a:solidFill>
              <a:srgbClr val="F6C768">
                <a:alpha val="8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07424" y="3584448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9E2F2"/>
                </a:solidFill>
              </a:rPr>
              <a:t>2. Memory + Skills + 文件系统</a:t>
            </a:r>
            <a:endParaRPr lang="en-US" sz="1060" dirty="0"/>
          </a:p>
        </p:txBody>
      </p:sp>
      <p:sp>
        <p:nvSpPr>
          <p:cNvPr id="62" name="Shape 60"/>
          <p:cNvSpPr/>
          <p:nvPr/>
        </p:nvSpPr>
        <p:spPr>
          <a:xfrm>
            <a:off x="8741664" y="4151376"/>
            <a:ext cx="201168" cy="201168"/>
          </a:xfrm>
          <a:prstGeom prst="ellipse">
            <a:avLst/>
          </a:prstGeom>
          <a:solidFill>
            <a:srgbClr val="F6C768">
              <a:alpha val="82000"/>
            </a:srgbClr>
          </a:solidFill>
          <a:ln w="12700">
            <a:solidFill>
              <a:srgbClr val="F6C768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07424" y="4114800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D9E2F2"/>
                </a:solidFill>
              </a:rPr>
              <a:t>3. Dreaming + Feedback 自进化</a:t>
            </a:r>
            <a:endParaRPr lang="en-US" sz="1060" dirty="0"/>
          </a:p>
        </p:txBody>
      </p:sp>
      <p:sp>
        <p:nvSpPr>
          <p:cNvPr id="66" name="Text 64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A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063" y="117983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5EEAD4"/>
                </a:solidFill>
              </a:rPr>
              <a:t>USER PAIN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58368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0"/>
              </a:rPr>
              <a:t>长期独自学习，不缺工具，缺一个会进化的陪伴者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CA3AF"/>
                </a:solidFill>
              </a:rPr>
              <a:t>目标用户：长期自学、做项目、准备比赛、探索方向的学生 / 个人开发者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8796528" y="475488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071426">
              <a:alpha val="93000"/>
            </a:srgbClr>
          </a:solidFill>
          <a:ln w="1270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97696" y="603504"/>
            <a:ext cx="658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120" dirty="0">
                <a:solidFill>
                  <a:srgbClr val="5EEAD4"/>
                </a:solidFill>
              </a:rPr>
              <a:t>一 </a:t>
            </a:r>
            <a:r>
              <a:rPr lang="zh-CN" altLang="en-US" sz="840" b="1" kern="0" spc="120" dirty="0">
                <a:solidFill>
                  <a:srgbClr val="5EEAD4"/>
                </a:solidFill>
              </a:rPr>
              <a:t>、</a:t>
            </a:r>
            <a:r>
              <a:rPr lang="en-US" sz="840" b="1" kern="0" spc="120" dirty="0">
                <a:solidFill>
                  <a:srgbClr val="5EEAD4"/>
                </a:solidFill>
              </a:rPr>
              <a:t> 1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9784080" y="56692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8FAFC"/>
                </a:solidFill>
              </a:rPr>
              <a:t>用户痛点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85800" y="1938528"/>
            <a:ext cx="4983480" cy="1133856"/>
          </a:xfrm>
          <a:prstGeom prst="roundRect">
            <a:avLst>
              <a:gd name="adj" fmla="val 6452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23544" y="2167128"/>
            <a:ext cx="292608" cy="292608"/>
          </a:xfrm>
          <a:prstGeom prst="ellipse">
            <a:avLst/>
          </a:prstGeom>
          <a:solidFill>
            <a:srgbClr val="5EEAD4">
              <a:alpha val="18000"/>
            </a:srgbClr>
          </a:solidFill>
          <a:ln w="12700">
            <a:solidFill>
              <a:srgbClr val="5EEAD4">
                <a:alpha val="76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2124" y="2221992"/>
            <a:ext cx="15544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EEAD4"/>
                </a:solidFill>
              </a:rPr>
              <a:t>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316736" y="2221992"/>
            <a:ext cx="3017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记录碎片化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325880" y="257860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今天写了什么、卡在哪里，很快变成散落信息。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63640" y="1938528"/>
            <a:ext cx="4983480" cy="1133856"/>
          </a:xfrm>
          <a:prstGeom prst="roundRect">
            <a:avLst>
              <a:gd name="adj" fmla="val 6452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01384" y="2167128"/>
            <a:ext cx="292608" cy="29260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76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9964" y="2221992"/>
            <a:ext cx="15544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</a:rPr>
              <a:t>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94576" y="2221992"/>
            <a:ext cx="3017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计划反复失败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03720" y="257860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失败原因没有被系统性总结，下一次仍然踩坑。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85800" y="3566160"/>
            <a:ext cx="4983480" cy="1133856"/>
          </a:xfrm>
          <a:prstGeom prst="roundRect">
            <a:avLst>
              <a:gd name="adj" fmla="val 6452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3544" y="3794760"/>
            <a:ext cx="292608" cy="292608"/>
          </a:xfrm>
          <a:prstGeom prst="ellipse">
            <a:avLst/>
          </a:prstGeom>
          <a:solidFill>
            <a:srgbClr val="5EEAD4">
              <a:alpha val="18000"/>
            </a:srgbClr>
          </a:solidFill>
          <a:ln w="12700">
            <a:solidFill>
              <a:srgbClr val="5EEAD4">
                <a:alpha val="76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2124" y="3849624"/>
            <a:ext cx="15544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EEAD4"/>
                </a:solidFill>
              </a:rPr>
              <a:t>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316736" y="3849624"/>
            <a:ext cx="3017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AI 只回答单次问题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325880" y="420624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缺少长期上下文、持续反馈与策略调整。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63640" y="3566160"/>
            <a:ext cx="4983480" cy="1133856"/>
          </a:xfrm>
          <a:prstGeom prst="roundRect">
            <a:avLst>
              <a:gd name="adj" fmla="val 6452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501384" y="3794760"/>
            <a:ext cx="292608" cy="29260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76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69964" y="3849624"/>
            <a:ext cx="15544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</a:rPr>
              <a:t>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94576" y="3849624"/>
            <a:ext cx="3017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成长不可见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903720" y="420624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努力没有沉淀成轨迹、阶段、突破和模式。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31520" y="55321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核心问题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828800" y="5486400"/>
            <a:ext cx="9052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一个人长期往前走时，需要的不是更多提醒，而是“记录他、理解他、复盘他，并和他一起进化”的智能体。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B28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84048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5EEAD4"/>
                </a:solidFill>
              </a:rPr>
              <a:t>PRODUCT POSITIONING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58368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0"/>
              </a:rPr>
              <a:t>LifeOS：伴随式成长操作系统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CA3AF"/>
                </a:solidFill>
              </a:rPr>
              <a:t>把修仙世界观映射为真实产品机制，而不是表层 gamification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8796528" y="475488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071426">
              <a:alpha val="93000"/>
            </a:srgbClr>
          </a:solidFill>
          <a:ln w="1270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97696" y="603504"/>
            <a:ext cx="658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120" dirty="0">
                <a:solidFill>
                  <a:srgbClr val="5EEAD4"/>
                </a:solidFill>
              </a:rPr>
              <a:t>一 </a:t>
            </a:r>
            <a:r>
              <a:rPr lang="zh-CN" altLang="en-US" sz="840" b="1" kern="0" spc="120" dirty="0">
                <a:solidFill>
                  <a:srgbClr val="5EEAD4"/>
                </a:solidFill>
              </a:rPr>
              <a:t>、</a:t>
            </a:r>
            <a:r>
              <a:rPr lang="en-US" sz="840" b="1" kern="0" spc="120" dirty="0">
                <a:solidFill>
                  <a:srgbClr val="5EEAD4"/>
                </a:solidFill>
              </a:rPr>
              <a:t> 2-3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9784080" y="56692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8FAFC"/>
                </a:solidFill>
              </a:rPr>
              <a:t>产品定位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49808" y="182880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0B1734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32688" y="199339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C768"/>
                </a:solidFill>
              </a:rPr>
              <a:t>洞府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892808" y="19933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个人成长工作台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53128" y="182880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11332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36008" y="199339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C768"/>
                </a:solidFill>
              </a:rPr>
              <a:t>修炼日志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96128" y="19933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日常输入 / 复盘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56448" y="182880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0B1734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339328" y="199339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C768"/>
                </a:solidFill>
              </a:rPr>
              <a:t>境界 / 子境界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299448" y="19933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长期成长进度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" y="315468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11332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32688" y="331927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C768"/>
                </a:solidFill>
              </a:rPr>
              <a:t>功法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892808" y="33192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Agent Skills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53128" y="315468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0B1734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636008" y="331927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C768"/>
                </a:solidFill>
              </a:rPr>
              <a:t>心魔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596128" y="33192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阻碍模式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156448" y="315468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11332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339328" y="331927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C768"/>
                </a:solidFill>
              </a:rPr>
              <a:t>命运长河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299448" y="33192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成长时间线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143000" y="4700016"/>
            <a:ext cx="9875520" cy="786384"/>
          </a:xfrm>
          <a:prstGeom prst="roundRect">
            <a:avLst>
              <a:gd name="adj" fmla="val 9302"/>
            </a:avLst>
          </a:prstGeom>
          <a:solidFill>
            <a:srgbClr val="071426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417320" y="491947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设计原则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487168" y="4892040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境界进度 ≠ 任务数量；而是稳定执行 + 复盘质量 + 项目推进 + 心魔改善 + Skill 熟练度。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A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246888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5EEAD4"/>
                </a:solidFill>
              </a:rPr>
              <a:t>CORE EXPERIENCE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58368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0"/>
              </a:rPr>
              <a:t>从一段日记，到一次完整 Agent 成长闭环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CA3AF"/>
                </a:solidFill>
              </a:rPr>
              <a:t>MVP 要稳定演示这一条链路：输入 -&gt; 解析 -&gt; 记忆 -&gt; 技能 -&gt; 反馈 -&gt; 可视化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8796528" y="475488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071426">
              <a:alpha val="93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97696" y="603504"/>
            <a:ext cx="658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120" dirty="0">
                <a:solidFill>
                  <a:srgbClr val="A78BFA"/>
                </a:solidFill>
              </a:rPr>
              <a:t>二 </a:t>
            </a:r>
            <a:r>
              <a:rPr lang="zh-CN" altLang="en-US" sz="840" b="1" kern="0" spc="120" dirty="0">
                <a:solidFill>
                  <a:srgbClr val="A78BFA"/>
                </a:solidFill>
              </a:rPr>
              <a:t>、</a:t>
            </a:r>
            <a:r>
              <a:rPr lang="en-US" sz="840" b="1" kern="0" spc="120" dirty="0">
                <a:solidFill>
                  <a:srgbClr val="A78BFA"/>
                </a:solidFill>
              </a:rPr>
              <a:t> 1-2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9784080" y="56692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8FAFC"/>
                </a:solidFill>
              </a:rPr>
              <a:t>核心体验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31520" y="23317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5EEAD4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41248" y="2496312"/>
            <a:ext cx="11978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Daily Input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48840" y="2615184"/>
            <a:ext cx="338328" cy="0"/>
          </a:xfrm>
          <a:prstGeom prst="line">
            <a:avLst/>
          </a:prstGeom>
          <a:noFill/>
          <a:ln w="1651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87168" y="23317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A78BFA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96896" y="2496312"/>
            <a:ext cx="11978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Memory Retrieval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904488" y="2615184"/>
            <a:ext cx="612648" cy="0"/>
          </a:xfrm>
          <a:prstGeom prst="line">
            <a:avLst/>
          </a:prstGeom>
          <a:noFill/>
          <a:ln w="1651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17136" y="23317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5EEAD4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26864" y="2496312"/>
            <a:ext cx="11978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Skill Selection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34456" y="2615184"/>
            <a:ext cx="466344" cy="0"/>
          </a:xfrm>
          <a:prstGeom prst="line">
            <a:avLst/>
          </a:prstGeom>
          <a:noFill/>
          <a:ln w="1651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2331720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A78BFA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10528" y="249631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Reflection / Plan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973568" y="2615184"/>
            <a:ext cx="438912" cy="0"/>
          </a:xfrm>
          <a:prstGeom prst="line">
            <a:avLst/>
          </a:prstGeom>
          <a:noFill/>
          <a:ln w="1651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12480" y="23317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5EEAD4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522208" y="2496312"/>
            <a:ext cx="11978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Harness Eval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829800" y="2615184"/>
            <a:ext cx="320040" cy="0"/>
          </a:xfrm>
          <a:prstGeom prst="line">
            <a:avLst/>
          </a:prstGeom>
          <a:noFill/>
          <a:ln w="1651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9840" y="23317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A78BFA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259568" y="2496312"/>
            <a:ext cx="11978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Evolution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14400" y="39776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143000" y="41879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修炼日志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143000" y="4517136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自然语言输入今日学习、项目、情绪、卡点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645152" y="39776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73752" y="41879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明日计划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873752" y="4517136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结合长期目标、当前状态和失败模式生成计划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375904" y="39776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F6C768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604504" y="41879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C768"/>
                </a:solidFill>
              </a:rPr>
              <a:t>洞府 / 长河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604504" y="4517136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境界、心魔、时间线、灵根雷达同步变化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A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246888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5EEAD4"/>
                </a:solidFill>
              </a:rPr>
              <a:t>VISUAL PRODUCT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58368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0"/>
              </a:rPr>
              <a:t>让成长被看见：洞府、长河、灵根与内核舱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CA3AF"/>
                </a:solidFill>
              </a:rPr>
              <a:t>视觉不是装饰，而是把抽象成长过程变成可感知体验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8796528" y="475488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071426">
              <a:alpha val="93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97696" y="603504"/>
            <a:ext cx="658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120" dirty="0">
                <a:solidFill>
                  <a:srgbClr val="A78BFA"/>
                </a:solidFill>
              </a:rPr>
              <a:t>二 </a:t>
            </a:r>
            <a:r>
              <a:rPr lang="zh-CN" altLang="en-US" sz="840" b="1" kern="0" spc="120" dirty="0">
                <a:solidFill>
                  <a:srgbClr val="A78BFA"/>
                </a:solidFill>
              </a:rPr>
              <a:t>、</a:t>
            </a:r>
            <a:r>
              <a:rPr lang="en-US" sz="840" b="1" kern="0" spc="120" dirty="0">
                <a:solidFill>
                  <a:srgbClr val="A78BFA"/>
                </a:solidFill>
              </a:rPr>
              <a:t> 3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9784080" y="56692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8FAFC"/>
                </a:solidFill>
              </a:rPr>
              <a:t>视觉体验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77240" y="1828800"/>
            <a:ext cx="4892040" cy="987552"/>
          </a:xfrm>
          <a:prstGeom prst="roundRect">
            <a:avLst>
              <a:gd name="adj" fmla="val 7407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05840" y="20574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</a:rPr>
              <a:t>洞府总览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514600" y="205740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F8FAFC"/>
                </a:solidFill>
              </a:rPr>
              <a:t>动态 Life Core、境界进度、当前心魔、修炼摘要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6263640" y="1828800"/>
            <a:ext cx="4892040" cy="987552"/>
          </a:xfrm>
          <a:prstGeom prst="roundRect">
            <a:avLst>
              <a:gd name="adj" fmla="val 7407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92240" y="20574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</a:rPr>
              <a:t>修炼日志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001000" y="205740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F8FAFC"/>
                </a:solidFill>
              </a:rPr>
              <a:t>居中输入、图片上传、提交后显示 Agent 解析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777240" y="3255264"/>
            <a:ext cx="4892040" cy="987552"/>
          </a:xfrm>
          <a:prstGeom prst="roundRect">
            <a:avLst>
              <a:gd name="adj" fmla="val 7407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05840" y="348386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</a:rPr>
              <a:t>成长轨迹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514600" y="348386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F8FAFC"/>
                </a:solidFill>
              </a:rPr>
              <a:t>命运长河瀑布流、趋势图谱、灵根目录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6263640" y="3255264"/>
            <a:ext cx="4892040" cy="987552"/>
          </a:xfrm>
          <a:prstGeom prst="roundRect">
            <a:avLst>
              <a:gd name="adj" fmla="val 7407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92240" y="348386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</a:rPr>
              <a:t>内核舱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001000" y="3483864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F8FAFC"/>
                </a:solidFill>
              </a:rPr>
              <a:t>产品化展示 Memory / Skills / Feedback / Dreaming</a:t>
            </a:r>
            <a:endParaRPr lang="en-US" sz="1060" dirty="0"/>
          </a:p>
        </p:txBody>
      </p:sp>
      <p:sp>
        <p:nvSpPr>
          <p:cNvPr id="49" name="Text 47"/>
          <p:cNvSpPr/>
          <p:nvPr/>
        </p:nvSpPr>
        <p:spPr>
          <a:xfrm>
            <a:off x="822960" y="521208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C768"/>
                </a:solidFill>
              </a:rPr>
              <a:t>Demo 主线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920240" y="5193792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打开洞府 → 提交今日日志 → 查看 Agent 解析 → 一键闭环 → 进入内核舱看 Memory / Skills / Dreaming / Harness 证据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B28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84048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5EEAD4"/>
                </a:solidFill>
              </a:rPr>
              <a:t>AGENT ENGINEERING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58368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0"/>
              </a:rPr>
              <a:t>可追踪的 Agent 工程闭环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CA3AF"/>
                </a:solidFill>
              </a:rPr>
              <a:t>核心不是界面，而是把每一次建议拆成可观测、可反馈、可进化的节点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8796528" y="475488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071426">
              <a:alpha val="93000"/>
            </a:srgbClr>
          </a:solidFill>
          <a:ln w="12700">
            <a:solidFill>
              <a:srgbClr val="F6C768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97696" y="603504"/>
            <a:ext cx="658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120" dirty="0">
                <a:solidFill>
                  <a:srgbClr val="F6C768"/>
                </a:solidFill>
              </a:rPr>
              <a:t>三 </a:t>
            </a:r>
            <a:r>
              <a:rPr lang="zh-CN" altLang="en-US" sz="840" b="1" kern="0" spc="120" dirty="0">
                <a:solidFill>
                  <a:srgbClr val="F6C768"/>
                </a:solidFill>
              </a:rPr>
              <a:t>、</a:t>
            </a:r>
            <a:r>
              <a:rPr lang="en-US" sz="840" b="1" kern="0" spc="120" dirty="0">
                <a:solidFill>
                  <a:srgbClr val="F6C768"/>
                </a:solidFill>
              </a:rPr>
              <a:t> 1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9784080" y="56692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8FAFC"/>
                </a:solidFill>
              </a:rPr>
              <a:t>Harness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4315968" y="2286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091737">
              <a:alpha val="90000"/>
            </a:srgbClr>
          </a:solidFill>
          <a:ln w="17780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17720" y="26243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Agent Harness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736592" y="2990088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20" dirty="0">
                <a:solidFill>
                  <a:srgbClr val="5EEAD4"/>
                </a:solidFill>
              </a:rPr>
              <a:t>traceSteps / stateDiff / latency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1664208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60A5FA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24128" y="1828800"/>
            <a:ext cx="183794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Input Parser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38655" y="2231390"/>
            <a:ext cx="2377440" cy="393700"/>
          </a:xfrm>
          <a:prstGeom prst="line">
            <a:avLst/>
          </a:prstGeom>
          <a:noFill/>
          <a:ln w="1651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0120" y="434340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5EEAD4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69848" y="4507992"/>
            <a:ext cx="183794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Memory Store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 flipV="1">
            <a:off x="2089150" y="3415665"/>
            <a:ext cx="2226310" cy="911225"/>
          </a:xfrm>
          <a:prstGeom prst="line">
            <a:avLst/>
          </a:prstGeom>
          <a:noFill/>
          <a:ln w="1651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498348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A78BFA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81728" y="5148072"/>
            <a:ext cx="183794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Skill Registry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88330" y="3454400"/>
            <a:ext cx="64770" cy="1529080"/>
          </a:xfrm>
          <a:prstGeom prst="line">
            <a:avLst/>
          </a:prstGeom>
          <a:noFill/>
          <a:ln w="1651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120" y="434340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F6C768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070848" y="4507992"/>
            <a:ext cx="183794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Evaluator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7535" y="3453765"/>
            <a:ext cx="2733675" cy="913130"/>
          </a:xfrm>
          <a:prstGeom prst="line">
            <a:avLst/>
          </a:prstGeom>
          <a:noFill/>
          <a:ln w="16510">
            <a:solidFill>
              <a:srgbClr val="F6C768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00" y="1664208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0B1530">
              <a:alpha val="90000"/>
            </a:srgbClr>
          </a:solidFill>
          <a:ln w="13335">
            <a:solidFill>
              <a:srgbClr val="F472B6">
                <a:alpha val="65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253728" y="1828800"/>
            <a:ext cx="183794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Dreaming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 flipV="1">
            <a:off x="6191885" y="1821815"/>
            <a:ext cx="2952115" cy="464185"/>
          </a:xfrm>
          <a:prstGeom prst="line">
            <a:avLst/>
          </a:prstGeom>
          <a:noFill/>
          <a:ln w="16510">
            <a:solidFill>
              <a:srgbClr val="F472B6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571500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工程可见性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212848" y="5687568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每次 run 不只返回答案，还记录输入摘要、Memory 检索、Skill 选择、模型调用、评估、状态变化与持久化。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A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84048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5EEAD4"/>
                </a:solidFill>
              </a:rPr>
              <a:t>MEMORY + SKILLS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58368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0"/>
              </a:rPr>
              <a:t>双循环：越懂你，也越会帮你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CA3AF"/>
                </a:solidFill>
              </a:rPr>
              <a:t>Memory 负责长期画像，Skills 负责可复用方法，两者都能被反馈更新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8796528" y="475488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071426">
              <a:alpha val="93000"/>
            </a:srgbClr>
          </a:solidFill>
          <a:ln w="12700">
            <a:solidFill>
              <a:srgbClr val="F6C768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97696" y="603504"/>
            <a:ext cx="658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120" dirty="0">
                <a:solidFill>
                  <a:srgbClr val="F6C768"/>
                </a:solidFill>
              </a:rPr>
              <a:t>三 </a:t>
            </a:r>
            <a:r>
              <a:rPr lang="zh-CN" altLang="en-US" sz="840" b="1" kern="0" spc="120" dirty="0">
                <a:solidFill>
                  <a:srgbClr val="F6C768"/>
                </a:solidFill>
              </a:rPr>
              <a:t>、</a:t>
            </a:r>
            <a:r>
              <a:rPr lang="en-US" sz="840" b="1" kern="0" spc="120" dirty="0">
                <a:solidFill>
                  <a:srgbClr val="F6C768"/>
                </a:solidFill>
              </a:rPr>
              <a:t> 2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9784080" y="56692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8FAFC"/>
                </a:solidFill>
              </a:rPr>
              <a:t>Memory / Skills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77240" y="182880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24128" y="2057400"/>
            <a:ext cx="292608" cy="292608"/>
          </a:xfrm>
          <a:prstGeom prst="ellipse">
            <a:avLst/>
          </a:prstGeom>
          <a:solidFill>
            <a:srgbClr val="5EEAD4">
              <a:alpha val="18000"/>
            </a:srgbClr>
          </a:solidFill>
          <a:ln w="12700">
            <a:solidFill>
              <a:srgbClr val="5EEAD4">
                <a:alpha val="76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2708" y="2112264"/>
            <a:ext cx="15544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EEAD4"/>
                </a:solidFill>
              </a:rPr>
              <a:t>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417320" y="2112264"/>
            <a:ext cx="3017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Memory Store / 文件式系统内存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43000" y="2606040"/>
            <a:ext cx="41605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/memory-vault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/profile.md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/memories/*.md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/skills/*.md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/traces/*.md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/dreams/*.md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78992" y="4096512"/>
            <a:ext cx="4389120" cy="8778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</a:rPr>
              <a:t>从重复模式提炼长期结论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</a:rPr>
              <a:t>可审查、可编辑、可被 Agent 重新读取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</a:rPr>
              <a:t>记忆必须解释“为什么这样建议”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6446520" y="182880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693408" y="2057400"/>
            <a:ext cx="292608" cy="29260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76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1988" y="2112264"/>
            <a:ext cx="15544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</a:rPr>
              <a:t>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86600" y="2112264"/>
            <a:ext cx="3017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Skills / 功法注册表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903720" y="261518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daily_reflection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8942832" y="2615184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</a:rPr>
              <a:t>每日复盘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6903720" y="2962656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planning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8942832" y="2962656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</a:rPr>
              <a:t>周天规划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6903720" y="3310128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obstacle_detection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8942832" y="3310128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</a:rPr>
              <a:t>心魔识别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6903720" y="3657600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memory_consolidation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8942832" y="3657600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</a:rPr>
              <a:t>记忆凝练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6903720" y="4005072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project_breakdown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8942832" y="4005072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</a:rPr>
              <a:t>项目拆解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6903720" y="461772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6C768"/>
                </a:solidFill>
              </a:rPr>
              <a:t>Skill Evolution 示例：planning.intensity 下调、taskGranularity -&gt; micro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B28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84048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5EEAD4"/>
                </a:solidFill>
              </a:rPr>
              <a:t>SELF-EVOLUTION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58368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0"/>
              </a:rPr>
              <a:t>自进化不是玄学，是明确的反馈回路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CA3AF"/>
                </a:solidFill>
              </a:rPr>
              <a:t>Feedback + Dreaming + Harness Trace，让 Agent 的变化可以被解释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8796528" y="475488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071426">
              <a:alpha val="93000"/>
            </a:srgbClr>
          </a:solidFill>
          <a:ln w="12700">
            <a:solidFill>
              <a:srgbClr val="F6C768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97696" y="603504"/>
            <a:ext cx="658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120" dirty="0">
                <a:solidFill>
                  <a:srgbClr val="F6C768"/>
                </a:solidFill>
              </a:rPr>
              <a:t>三 </a:t>
            </a:r>
            <a:r>
              <a:rPr lang="zh-CN" altLang="en-US" sz="840" b="1" kern="0" spc="120" dirty="0">
                <a:solidFill>
                  <a:srgbClr val="F6C768"/>
                </a:solidFill>
              </a:rPr>
              <a:t>、</a:t>
            </a:r>
            <a:r>
              <a:rPr lang="en-US" sz="840" b="1" kern="0" spc="120" dirty="0">
                <a:solidFill>
                  <a:srgbClr val="F6C768"/>
                </a:solidFill>
              </a:rPr>
              <a:t> 3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9784080" y="56692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8FAFC"/>
                </a:solidFill>
              </a:rPr>
              <a:t>自进化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868680" y="1783080"/>
            <a:ext cx="10469880" cy="841248"/>
          </a:xfrm>
          <a:prstGeom prst="roundRect">
            <a:avLst>
              <a:gd name="adj" fmla="val 8696"/>
            </a:avLst>
          </a:prstGeom>
          <a:solidFill>
            <a:srgbClr val="0B1732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143000" y="194767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</a:rPr>
              <a:t>Feedback Evolution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11880" y="1947672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BD5E1"/>
                </a:solidFill>
              </a:rPr>
              <a:t>用户评价计划太重 / 刚刚好 / 有帮助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7022592" y="190195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52360" y="1947672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调整 Skill 参数与后续策略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868680" y="2953512"/>
            <a:ext cx="10469880" cy="841248"/>
          </a:xfrm>
          <a:prstGeom prst="roundRect">
            <a:avLst>
              <a:gd name="adj" fmla="val 8696"/>
            </a:avLst>
          </a:prstGeom>
          <a:solidFill>
            <a:srgbClr val="101638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143000" y="311810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Dreaming Mechanism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11880" y="3118104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BD5E1"/>
                </a:solidFill>
              </a:rPr>
              <a:t>离线读取近期 traces / logs / feedbacks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7022592" y="3072384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52360" y="3118104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沉淀长期模式与下一轮实验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868680" y="4123944"/>
            <a:ext cx="10469880" cy="841248"/>
          </a:xfrm>
          <a:prstGeom prst="roundRect">
            <a:avLst>
              <a:gd name="adj" fmla="val 8696"/>
            </a:avLst>
          </a:prstGeom>
          <a:solidFill>
            <a:srgbClr val="0B1732">
              <a:alpha val="90000"/>
            </a:srgbClr>
          </a:solidFill>
          <a:ln w="13335">
            <a:solidFill>
              <a:srgbClr val="F6C768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143000" y="428853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C768"/>
                </a:solidFill>
              </a:rPr>
              <a:t>Trace Evidence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611880" y="4288536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BD5E1"/>
                </a:solidFill>
              </a:rPr>
              <a:t>每一步有 inputSummary / outputSummary / latency</a:t>
            </a:r>
            <a:endParaRPr lang="en-US" sz="1120" dirty="0"/>
          </a:p>
        </p:txBody>
      </p:sp>
      <p:sp>
        <p:nvSpPr>
          <p:cNvPr id="50" name="Text 48"/>
          <p:cNvSpPr/>
          <p:nvPr/>
        </p:nvSpPr>
        <p:spPr>
          <a:xfrm>
            <a:off x="7022592" y="4242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C768"/>
                </a:solidFill>
              </a:rPr>
              <a:t>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52360" y="4288536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评委可直接回放工程证据链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1828800" y="5486400"/>
            <a:ext cx="8549640" cy="512064"/>
          </a:xfrm>
          <a:prstGeom prst="roundRect">
            <a:avLst>
              <a:gd name="adj" fmla="val 14286"/>
            </a:avLst>
          </a:prstGeom>
          <a:solidFill>
            <a:srgbClr val="071426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103120" y="5641848"/>
            <a:ext cx="8001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最终形成：Daily Input -&gt; Memory Retrieval -&gt; Skill Selection -&gt; Reflection -&gt; Evaluation -&gt; Memory Update -&gt; Skill Evolution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B28">
              <a:alpha val="88000"/>
            </a:srgbClr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5274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5096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1B2A52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8638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57276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35915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45536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718304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5080">
            <a:solidFill>
              <a:srgbClr val="1B2A52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-822960"/>
            <a:ext cx="4754880" cy="4754880"/>
          </a:xfrm>
          <a:prstGeom prst="arc">
            <a:avLst/>
          </a:prstGeom>
          <a:noFill/>
          <a:ln w="13970">
            <a:solidFill>
              <a:srgbClr val="5EEAD4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-1280160"/>
            <a:ext cx="6035040" cy="6035040"/>
          </a:xfrm>
          <a:prstGeom prst="arc">
            <a:avLst/>
          </a:prstGeom>
          <a:noFill/>
          <a:ln w="13970">
            <a:solidFill>
              <a:srgbClr val="A78BF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280160" y="4480560"/>
            <a:ext cx="3840480" cy="3840480"/>
          </a:xfrm>
          <a:prstGeom prst="arc">
            <a:avLst/>
          </a:prstGeom>
          <a:noFill/>
          <a:ln w="1270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793" y="155448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5EEAD4"/>
                </a:solidFill>
              </a:rPr>
              <a:t>WHY IT MATTERS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58368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0"/>
              </a:rPr>
              <a:t>LifeOS Agent：让一个人的长期成长拥有反馈系统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566928" y="129844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CA3AF"/>
                </a:solidFill>
              </a:rPr>
              <a:t>不是普通日程，不是一次性聊天，而是可记忆、可回放、可进化的个人 Agent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8796528" y="475488"/>
            <a:ext cx="2670048" cy="420624"/>
          </a:xfrm>
          <a:prstGeom prst="roundRect">
            <a:avLst>
              <a:gd name="adj" fmla="val 17391"/>
            </a:avLst>
          </a:prstGeom>
          <a:solidFill>
            <a:srgbClr val="071426">
              <a:alpha val="93000"/>
            </a:srgbClr>
          </a:solidFill>
          <a:ln w="1270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97696" y="603504"/>
            <a:ext cx="6583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5EEAD4"/>
                </a:solidFill>
              </a:rPr>
              <a:t>总结 </a:t>
            </a:r>
            <a:endParaRPr lang="en-US" sz="1200" b="1" kern="0" spc="120" dirty="0">
              <a:solidFill>
                <a:srgbClr val="5EEAD4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02825" y="603123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8FAFC"/>
                </a:solidFill>
              </a:rPr>
              <a:t>价值收束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822960" y="20116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5EEAD4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97280" y="23317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</a:rPr>
              <a:t>产品价值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7280" y="2779776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解决独自学习/做项目时的长期陪伴、复盘与方向感问题。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20116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A78BFA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23317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技术亮点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92040" y="2779776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Agent Harness + Memory + Skills + Dreaming + 文件系统内存。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20116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01A36">
              <a:alpha val="90000"/>
            </a:srgbClr>
          </a:solidFill>
          <a:ln w="13335">
            <a:solidFill>
              <a:srgbClr val="F6C768">
                <a:alpha val="92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686800" y="23317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C768"/>
                </a:solidFill>
              </a:rPr>
              <a:t>路演亮点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86800" y="2779776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修仙框架让成长可视化，工程证据证明 Agent 真实闭环。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43000" y="4480560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“在 LifeOS 里，功法就是 Skills，心魔就是阻碍模式，境界就是长期成长轨迹。修仙不是皮肤，而是一套可解释、可视化、可进化的个人成长模型。”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340860" y="5485765"/>
            <a:ext cx="3479165" cy="805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EAD4"/>
                </a:solidFill>
              </a:rPr>
              <a:t>Thank you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2920" y="652881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1A6"/>
                </a:solidFill>
              </a:rPr>
              <a:t>LifeOS Agent · OPC Hackathon ·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3051</Words>
  <Application>WPS 演示</Application>
  <PresentationFormat>On-screen Show (16:9)</PresentationFormat>
  <Paragraphs>365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Microsoft YaHei UI</vt:lpstr>
      <vt:lpstr>Microsoft YaHei UI</vt:lpstr>
      <vt:lpstr>Consolas</vt:lpstr>
      <vt:lpstr>Consolas</vt:lpstr>
      <vt:lpstr>Consolas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OPC Hackathon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LifeOS Agent 路演PPT</dc:title>
  <dc:creator>LifeOS Agent Team</dc:creator>
  <dc:subject>LifeOS Agent pitch deck</dc:subject>
  <cp:lastModifiedBy>张子恒</cp:lastModifiedBy>
  <cp:revision>2</cp:revision>
  <dcterms:created xsi:type="dcterms:W3CDTF">2026-06-30T08:43:00Z</dcterms:created>
  <dcterms:modified xsi:type="dcterms:W3CDTF">2026-06-30T11:20:44Z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514E4AD0040C49EE9D04F53201C9C1CE_12</vt:lpwstr>
  </property>
  <property fmtid="{D5CDD505-2E9C-101B-9397-08002B2CF9AE}" pid="3" name="KSOProductBuildVer">
    <vt:lpwstr>2052-12.1.0.23542</vt:lpwstr>
  </property>
</Properties>
</file>