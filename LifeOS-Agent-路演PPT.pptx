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B28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658368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8FAFC"/>
                </a:solidFill>
              </a:rPr>
              <a:t>LifeOS Agent</a:t>
            </a:r>
            <a:endParaRPr lang="en-US" sz="4200" dirty="0"/>
          </a:p>
        </p:txBody>
      </p:sp>
      <p:sp>
        <p:nvSpPr>
          <p:cNvPr id="32" name="Text 30"/>
          <p:cNvSpPr/>
          <p:nvPr/>
        </p:nvSpPr>
        <p:spPr>
          <a:xfrm>
            <a:off x="713232" y="1463040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</a:rPr>
              <a:t>伴随式自进化个人成长智能体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731520" y="2057400"/>
            <a:ext cx="5577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</a:rPr>
              <a:t>用 Agent Harness / Memory / Skills / Dreaming，把日常记录变成可追踪、可反馈、可进化的成长系统。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731520" y="2971800"/>
            <a:ext cx="960120" cy="310896"/>
          </a:xfrm>
          <a:prstGeom prst="roundRect">
            <a:avLst>
              <a:gd name="adj" fmla="val 17647"/>
            </a:avLst>
          </a:prstGeom>
          <a:solidFill>
            <a:srgbClr val="5EEAD4">
              <a:alpha val="16000"/>
            </a:srgbClr>
          </a:solidFill>
          <a:ln w="12700">
            <a:solidFill>
              <a:srgbClr val="5EEAD4">
                <a:alpha val="65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1248" y="3044952"/>
            <a:ext cx="740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5EEAD4"/>
                </a:solidFill>
              </a:rPr>
              <a:t>Memory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1874520" y="2971800"/>
            <a:ext cx="960120" cy="310896"/>
          </a:xfrm>
          <a:prstGeom prst="roundRect">
            <a:avLst>
              <a:gd name="adj" fmla="val 17647"/>
            </a:avLst>
          </a:prstGeom>
          <a:solidFill>
            <a:srgbClr val="A78BFA">
              <a:alpha val="16000"/>
            </a:srgbClr>
          </a:solidFill>
          <a:ln w="12700">
            <a:solidFill>
              <a:srgbClr val="A78BFA">
                <a:alpha val="65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84248" y="3044952"/>
            <a:ext cx="740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A78BFA"/>
                </a:solidFill>
              </a:rPr>
              <a:t>Skills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017520" y="2971800"/>
            <a:ext cx="960120" cy="310896"/>
          </a:xfrm>
          <a:prstGeom prst="roundRect">
            <a:avLst>
              <a:gd name="adj" fmla="val 17647"/>
            </a:avLst>
          </a:prstGeom>
          <a:solidFill>
            <a:srgbClr val="5EEAD4">
              <a:alpha val="16000"/>
            </a:srgbClr>
          </a:solidFill>
          <a:ln w="12700">
            <a:solidFill>
              <a:srgbClr val="5EEAD4">
                <a:alpha val="65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127248" y="3044952"/>
            <a:ext cx="740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5EEAD4"/>
                </a:solidFill>
              </a:rPr>
              <a:t>Dreaming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160520" y="2971800"/>
            <a:ext cx="960120" cy="310896"/>
          </a:xfrm>
          <a:prstGeom prst="roundRect">
            <a:avLst>
              <a:gd name="adj" fmla="val 17647"/>
            </a:avLst>
          </a:prstGeom>
          <a:solidFill>
            <a:srgbClr val="A78BFA">
              <a:alpha val="16000"/>
            </a:srgbClr>
          </a:solidFill>
          <a:ln w="12700">
            <a:solidFill>
              <a:srgbClr val="A78BFA">
                <a:alpha val="6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70248" y="3044952"/>
            <a:ext cx="740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A78BFA"/>
                </a:solidFill>
              </a:rPr>
              <a:t>Harness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303520" y="2971800"/>
            <a:ext cx="960120" cy="310896"/>
          </a:xfrm>
          <a:prstGeom prst="roundRect">
            <a:avLst>
              <a:gd name="adj" fmla="val 17647"/>
            </a:avLst>
          </a:prstGeom>
          <a:solidFill>
            <a:srgbClr val="5EEAD4">
              <a:alpha val="16000"/>
            </a:srgbClr>
          </a:solidFill>
          <a:ln w="12700">
            <a:solidFill>
              <a:srgbClr val="5EEAD4">
                <a:alpha val="65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13248" y="3044952"/>
            <a:ext cx="740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5EEAD4"/>
                </a:solidFill>
              </a:rPr>
              <a:t>File-system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7315200" y="1078992"/>
            <a:ext cx="3383280" cy="3383280"/>
          </a:xfrm>
          <a:prstGeom prst="ellipse">
            <a:avLst/>
          </a:prstGeom>
          <a:solidFill>
            <a:srgbClr val="5EEAD4">
              <a:alpha val="12000"/>
            </a:srgbClr>
          </a:solidFill>
          <a:ln w="25400">
            <a:solidFill>
              <a:srgbClr val="5EEAD4">
                <a:alpha val="80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9248" y="1463040"/>
            <a:ext cx="2615184" cy="2615184"/>
          </a:xfrm>
          <a:prstGeom prst="ellipse">
            <a:avLst/>
          </a:prstGeom>
          <a:solidFill>
            <a:srgbClr val="111B3B">
              <a:alpha val="92000"/>
            </a:srgbClr>
          </a:solidFill>
          <a:ln w="19050">
            <a:solidFill>
              <a:srgbClr val="A78BFA">
                <a:alpha val="8000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75320" y="2121408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8FAFC"/>
                </a:solidFill>
              </a:rPr>
              <a:t>OS</a:t>
            </a:r>
            <a:endParaRPr lang="en-US" sz="4400" dirty="0"/>
          </a:p>
        </p:txBody>
      </p:sp>
      <p:sp>
        <p:nvSpPr>
          <p:cNvPr id="47" name="Text 45"/>
          <p:cNvSpPr/>
          <p:nvPr/>
        </p:nvSpPr>
        <p:spPr>
          <a:xfrm>
            <a:off x="8348472" y="278892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80" kern="0" dirty="0">
                <a:solidFill>
                  <a:srgbClr val="5EEAD4"/>
                </a:solidFill>
              </a:rPr>
              <a:t>LIFE CORE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7452360" y="507492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C768"/>
                </a:solidFill>
              </a:rPr>
              <a:t>修仙是框架，Agent 工程是核心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22A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840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5EEAD4"/>
                </a:solidFill>
              </a:rPr>
              <a:t>USER PAIN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65836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长期独自学习，不缺工具，缺一个会进化的陪伴者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566928" y="129844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CA3AF"/>
                </a:solidFill>
              </a:rPr>
              <a:t>目标用户：长期自学、做项目、准备比赛、探索方向的学生 / 个人开发者</a:t>
            </a: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685800" y="1938528"/>
            <a:ext cx="4983480" cy="1133856"/>
          </a:xfrm>
          <a:prstGeom prst="roundRect">
            <a:avLst>
              <a:gd name="adj" fmla="val 6452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23544" y="2167128"/>
            <a:ext cx="292608" cy="292608"/>
          </a:xfrm>
          <a:prstGeom prst="ellipse">
            <a:avLst/>
          </a:prstGeom>
          <a:solidFill>
            <a:srgbClr val="5EEAD4">
              <a:alpha val="18000"/>
            </a:srgbClr>
          </a:solidFill>
          <a:ln w="12700">
            <a:solidFill>
              <a:srgbClr val="5EEAD4">
                <a:alpha val="76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92124" y="2221992"/>
            <a:ext cx="1554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EAD4"/>
                </a:solidFill>
              </a:rPr>
              <a:t>1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316736" y="2221992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</a:rPr>
              <a:t>记录碎片化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325880" y="25786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</a:rPr>
              <a:t>今天写了什么、卡在哪里，很快变成散落信息。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263640" y="1938528"/>
            <a:ext cx="4983480" cy="1133856"/>
          </a:xfrm>
          <a:prstGeom prst="roundRect">
            <a:avLst>
              <a:gd name="adj" fmla="val 6452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501384" y="2167128"/>
            <a:ext cx="292608" cy="292608"/>
          </a:xfrm>
          <a:prstGeom prst="ellipse">
            <a:avLst/>
          </a:prstGeom>
          <a:solidFill>
            <a:srgbClr val="A78BFA">
              <a:alpha val="18000"/>
            </a:srgbClr>
          </a:solidFill>
          <a:ln w="12700">
            <a:solidFill>
              <a:srgbClr val="A78BFA">
                <a:alpha val="76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69964" y="2221992"/>
            <a:ext cx="1554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8BFA"/>
                </a:solidFill>
              </a:rPr>
              <a:t>2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894576" y="2221992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</a:rPr>
              <a:t>计划反复失败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903720" y="25786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</a:rPr>
              <a:t>失败原因没有被系统性总结，下一次仍然踩坑。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85800" y="3566160"/>
            <a:ext cx="4983480" cy="1133856"/>
          </a:xfrm>
          <a:prstGeom prst="roundRect">
            <a:avLst>
              <a:gd name="adj" fmla="val 6452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23544" y="3794760"/>
            <a:ext cx="292608" cy="292608"/>
          </a:xfrm>
          <a:prstGeom prst="ellipse">
            <a:avLst/>
          </a:prstGeom>
          <a:solidFill>
            <a:srgbClr val="5EEAD4">
              <a:alpha val="18000"/>
            </a:srgbClr>
          </a:solidFill>
          <a:ln w="12700">
            <a:solidFill>
              <a:srgbClr val="5EEAD4">
                <a:alpha val="7600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92124" y="3849624"/>
            <a:ext cx="1554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EAD4"/>
                </a:solidFill>
              </a:rPr>
              <a:t>3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316736" y="3849624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</a:rPr>
              <a:t>AI 只回答单次问题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1325880" y="42062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</a:rPr>
              <a:t>缺少长期上下文、持续反馈与策略调整。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6263640" y="3566160"/>
            <a:ext cx="4983480" cy="1133856"/>
          </a:xfrm>
          <a:prstGeom prst="roundRect">
            <a:avLst>
              <a:gd name="adj" fmla="val 6452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6501384" y="3794760"/>
            <a:ext cx="292608" cy="292608"/>
          </a:xfrm>
          <a:prstGeom prst="ellipse">
            <a:avLst/>
          </a:prstGeom>
          <a:solidFill>
            <a:srgbClr val="A78BFA">
              <a:alpha val="18000"/>
            </a:srgbClr>
          </a:solidFill>
          <a:ln w="12700">
            <a:solidFill>
              <a:srgbClr val="A78BFA">
                <a:alpha val="7600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69964" y="3849624"/>
            <a:ext cx="1554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8BFA"/>
                </a:solidFill>
              </a:rPr>
              <a:t>4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894576" y="3849624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</a:rPr>
              <a:t>成长不可见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6903720" y="42062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</a:rPr>
              <a:t>努力没有沉淀成轨迹、阶段、突破和模式。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731520" y="553212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AD4"/>
                </a:solidFill>
              </a:rPr>
              <a:t>核心问题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828800" y="5486400"/>
            <a:ext cx="9052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</a:rPr>
              <a:t>一个人长期往前走时，需要的不是更多提醒，而是“记录他、理解他、复盘他，并和他一起进化”的智能体。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B28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840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5EEAD4"/>
                </a:solidFill>
              </a:rPr>
              <a:t>PRODUCT POSITIONING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65836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LifeOS：伴随式成长操作系统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566928" y="129844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CA3AF"/>
                </a:solidFill>
              </a:rPr>
              <a:t>把修仙世界观映射为真实产品机制，而不是表层 gamification</a:t>
            </a: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749808" y="1828800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0B1734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932688" y="19933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C768"/>
                </a:solidFill>
              </a:rPr>
              <a:t>洞府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892808" y="19933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个人成长工作台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453128" y="1828800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111332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4636008" y="19933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C768"/>
                </a:solidFill>
              </a:rPr>
              <a:t>修炼日志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596128" y="19933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日常输入 / 复盘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156448" y="1828800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0B1734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339328" y="19933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C768"/>
                </a:solidFill>
              </a:rPr>
              <a:t>境界 / 子境界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9299448" y="19933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长期成长进度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49808" y="3154680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111332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33192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C768"/>
                </a:solidFill>
              </a:rPr>
              <a:t>功法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892808" y="33192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Agent Skills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453128" y="3154680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0B1734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636008" y="33192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C768"/>
                </a:solidFill>
              </a:rPr>
              <a:t>心魔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596128" y="33192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阻碍模式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156448" y="3154680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111332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8339328" y="33192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C768"/>
                </a:solidFill>
              </a:rPr>
              <a:t>命运长河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299448" y="33192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成长时间线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1143000" y="4700016"/>
            <a:ext cx="9875520" cy="786384"/>
          </a:xfrm>
          <a:prstGeom prst="roundRect">
            <a:avLst>
              <a:gd name="adj" fmla="val 9302"/>
            </a:avLst>
          </a:prstGeom>
          <a:solidFill>
            <a:srgbClr val="071426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1417320" y="491947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AD4"/>
                </a:solidFill>
              </a:rPr>
              <a:t>设计原则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2487168" y="48920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</a:rPr>
              <a:t>境界进度 ≠ 任务数量；而是稳定执行 + 复盘质量 + 项目推进 + 心魔改善 + Skill 熟练度。</a:t>
            </a:r>
            <a:endParaRPr lang="en-US" sz="1350" dirty="0"/>
          </a:p>
        </p:txBody>
      </p:sp>
      <p:sp>
        <p:nvSpPr>
          <p:cNvPr id="55" name="Text 53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22A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840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5EEAD4"/>
                </a:solidFill>
              </a:rPr>
              <a:t>CORE EXPERIENCE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65836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从一段日记，到一次完整 Agent 成长闭环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566928" y="129844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CA3AF"/>
                </a:solidFill>
              </a:rPr>
              <a:t>MVP 要稳定演示这一条链路：输入 -&gt; 解析 -&gt; 记忆 -&gt; 技能 -&gt; 反馈 -&gt; 可视化</a:t>
            </a: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731520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5EEAD4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841248" y="2496312"/>
            <a:ext cx="11978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Daily Input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148840" y="2615184"/>
            <a:ext cx="338328" cy="0"/>
          </a:xfrm>
          <a:prstGeom prst="line">
            <a:avLst/>
          </a:prstGeom>
          <a:noFill/>
          <a:ln w="16510">
            <a:solidFill>
              <a:srgbClr val="5EEAD4">
                <a:alpha val="8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87168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A78BFA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2596896" y="2496312"/>
            <a:ext cx="11978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Memory Retrieval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904488" y="2615184"/>
            <a:ext cx="612648" cy="0"/>
          </a:xfrm>
          <a:prstGeom prst="line">
            <a:avLst/>
          </a:prstGeom>
          <a:noFill/>
          <a:ln w="16510">
            <a:solidFill>
              <a:srgbClr val="A78BFA">
                <a:alpha val="8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17136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5EEAD4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626864" y="2496312"/>
            <a:ext cx="11978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Skill Selection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934456" y="2615184"/>
            <a:ext cx="466344" cy="0"/>
          </a:xfrm>
          <a:prstGeom prst="line">
            <a:avLst/>
          </a:prstGeom>
          <a:noFill/>
          <a:ln w="16510">
            <a:solidFill>
              <a:srgbClr val="5EEAD4">
                <a:alpha val="8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0" y="2331720"/>
            <a:ext cx="1572768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A78BFA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510528" y="2496312"/>
            <a:ext cx="1353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Reflection / Plan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973568" y="2615184"/>
            <a:ext cx="438912" cy="0"/>
          </a:xfrm>
          <a:prstGeom prst="line">
            <a:avLst/>
          </a:prstGeom>
          <a:noFill/>
          <a:ln w="16510">
            <a:solidFill>
              <a:srgbClr val="A78BFA">
                <a:alpha val="8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412480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5EEAD4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8522208" y="2496312"/>
            <a:ext cx="11978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Harness Eval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829800" y="2615184"/>
            <a:ext cx="320040" cy="0"/>
          </a:xfrm>
          <a:prstGeom prst="line">
            <a:avLst/>
          </a:prstGeom>
          <a:noFill/>
          <a:ln w="16510">
            <a:solidFill>
              <a:srgbClr val="5EEAD4">
                <a:alpha val="80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149840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A78BFA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0259568" y="2496312"/>
            <a:ext cx="11978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Evolution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14400" y="3977640"/>
            <a:ext cx="3154680" cy="914400"/>
          </a:xfrm>
          <a:prstGeom prst="roundRect">
            <a:avLst>
              <a:gd name="adj" fmla="val 8000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1143000" y="4187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</a:rPr>
              <a:t>修炼日志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1143000" y="4517136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自然语言输入今日学习、项目、情绪、卡点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4645152" y="3977640"/>
            <a:ext cx="3154680" cy="914400"/>
          </a:xfrm>
          <a:prstGeom prst="roundRect">
            <a:avLst>
              <a:gd name="adj" fmla="val 8000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4873752" y="4187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78BFA"/>
                </a:solidFill>
              </a:rPr>
              <a:t>明日计划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4873752" y="4517136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结合长期目标、当前状态和失败模式生成计划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8375904" y="3977640"/>
            <a:ext cx="3154680" cy="914400"/>
          </a:xfrm>
          <a:prstGeom prst="roundRect">
            <a:avLst>
              <a:gd name="adj" fmla="val 8000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F6C768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8604504" y="4187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C768"/>
                </a:solidFill>
              </a:rPr>
              <a:t>洞府 / 长河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8604504" y="4517136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境界、心魔、时间线、灵根雷达同步变化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B28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840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5EEAD4"/>
                </a:solidFill>
              </a:rPr>
              <a:t>AGENT ENGINEERING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65836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可追踪的 Agent 工程闭环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566928" y="129844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CA3AF"/>
                </a:solidFill>
              </a:rPr>
              <a:t>核心不是界面，而是把每一次建议拆成可观测、可反馈、可进化的节点</a:t>
            </a: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4315968" y="2286000"/>
            <a:ext cx="3566160" cy="1143000"/>
          </a:xfrm>
          <a:prstGeom prst="roundRect">
            <a:avLst>
              <a:gd name="adj" fmla="val 6400"/>
            </a:avLst>
          </a:prstGeom>
          <a:solidFill>
            <a:srgbClr val="091737">
              <a:alpha val="90000"/>
            </a:srgbClr>
          </a:solidFill>
          <a:ln w="17780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617720" y="26243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8FAFC"/>
                </a:solidFill>
              </a:rPr>
              <a:t>Agent Harness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4736592" y="2990088"/>
            <a:ext cx="2651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20" kern="0" dirty="0">
                <a:solidFill>
                  <a:srgbClr val="5EEAD4"/>
                </a:solidFill>
              </a:rPr>
              <a:t>traceSteps / stateDiff / latency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914400" y="1664208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60A5FA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024128" y="1828800"/>
            <a:ext cx="1837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Input Parser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938528" y="2231136"/>
            <a:ext cx="4160520" cy="630936"/>
          </a:xfrm>
          <a:prstGeom prst="line">
            <a:avLst/>
          </a:prstGeom>
          <a:noFill/>
          <a:ln w="16510">
            <a:solidFill>
              <a:srgbClr val="60A5FA">
                <a:alpha val="8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0120" y="434340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5EEAD4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069848" y="4507992"/>
            <a:ext cx="1837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Memory Store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984248" y="2862072"/>
            <a:ext cx="4114800" cy="2048256"/>
          </a:xfrm>
          <a:prstGeom prst="line">
            <a:avLst/>
          </a:prstGeom>
          <a:noFill/>
          <a:ln w="16510">
            <a:solidFill>
              <a:srgbClr val="5EEAD4">
                <a:alpha val="8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0" y="498348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A78BFA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681728" y="5148072"/>
            <a:ext cx="1837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Skill Registry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596128" y="2862072"/>
            <a:ext cx="502920" cy="2688336"/>
          </a:xfrm>
          <a:prstGeom prst="line">
            <a:avLst/>
          </a:prstGeom>
          <a:noFill/>
          <a:ln w="16510">
            <a:solidFill>
              <a:srgbClr val="A78BFA">
                <a:alpha val="8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961120" y="434340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F6C768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9070848" y="4507992"/>
            <a:ext cx="1837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Evaluator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099048" y="2862072"/>
            <a:ext cx="3886200" cy="2048256"/>
          </a:xfrm>
          <a:prstGeom prst="line">
            <a:avLst/>
          </a:prstGeom>
          <a:noFill/>
          <a:ln w="16510">
            <a:solidFill>
              <a:srgbClr val="F6C768">
                <a:alpha val="80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144000" y="1664208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F472B6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9253728" y="1828800"/>
            <a:ext cx="1837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Dreaming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099048" y="2231136"/>
            <a:ext cx="4069080" cy="630936"/>
          </a:xfrm>
          <a:prstGeom prst="line">
            <a:avLst/>
          </a:prstGeom>
          <a:noFill/>
          <a:ln w="16510">
            <a:solidFill>
              <a:srgbClr val="F472B6">
                <a:alpha val="8000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22960" y="571500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AD4"/>
                </a:solidFill>
              </a:rPr>
              <a:t>工程可见性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2212848" y="5687568"/>
            <a:ext cx="8778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每次 run 不只返回答案，还记录输入摘要、Memory 检索、Skill 选择、模型调用、评估、状态变化与持久化。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22A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840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5EEAD4"/>
                </a:solidFill>
              </a:rPr>
              <a:t>MEMORY + SKILLS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65836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双循环：越懂你，也越会帮你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566928" y="129844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CA3AF"/>
                </a:solidFill>
              </a:rPr>
              <a:t>Memory 负责长期画像，Skills 负责可复用方法，两者都能被反馈更新</a:t>
            </a: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777240" y="1828800"/>
            <a:ext cx="4983480" cy="3246120"/>
          </a:xfrm>
          <a:prstGeom prst="roundRect">
            <a:avLst>
              <a:gd name="adj" fmla="val 2254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024128" y="2057400"/>
            <a:ext cx="292608" cy="292608"/>
          </a:xfrm>
          <a:prstGeom prst="ellipse">
            <a:avLst/>
          </a:prstGeom>
          <a:solidFill>
            <a:srgbClr val="5EEAD4">
              <a:alpha val="18000"/>
            </a:srgbClr>
          </a:solidFill>
          <a:ln w="12700">
            <a:solidFill>
              <a:srgbClr val="5EEAD4">
                <a:alpha val="76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92708" y="2112264"/>
            <a:ext cx="1554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EAD4"/>
                </a:solidFill>
              </a:rPr>
              <a:t>M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417320" y="2112264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</a:rPr>
              <a:t>Memory Store / 文件式系统内存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143000" y="2606040"/>
            <a:ext cx="4160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/memory-vault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/profile.md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/memories/*.md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/skills/*.md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/traces/*.md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/dreams/*.md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078992" y="4096512"/>
            <a:ext cx="438912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80" dirty="0">
                <a:solidFill>
                  <a:srgbClr val="CBD5E1"/>
                </a:solidFill>
              </a:rPr>
              <a:t>从重复模式提炼长期结论</a:t>
            </a:r>
            <a:endParaRPr lang="en-US" sz="1080" dirty="0"/>
          </a:p>
          <a:p>
            <a:pPr marL="152400" indent="-152400">
              <a:buSzPct val="100000"/>
              <a:buChar char="•"/>
            </a:pPr>
            <a:r>
              <a:rPr lang="en-US" sz="1080" dirty="0">
                <a:solidFill>
                  <a:srgbClr val="CBD5E1"/>
                </a:solidFill>
              </a:rPr>
              <a:t>可审查、可编辑、可被 Agent 重新读取</a:t>
            </a:r>
            <a:endParaRPr lang="en-US" sz="1080" dirty="0"/>
          </a:p>
          <a:p>
            <a:pPr marL="152400" indent="-152400">
              <a:buSzPct val="100000"/>
              <a:buChar char="•"/>
            </a:pPr>
            <a:r>
              <a:rPr lang="en-US" sz="1080" dirty="0">
                <a:solidFill>
                  <a:srgbClr val="CBD5E1"/>
                </a:solidFill>
              </a:rPr>
              <a:t>记忆必须解释“为什么这样建议”</a:t>
            </a:r>
            <a:endParaRPr lang="en-US" sz="1080" dirty="0"/>
          </a:p>
        </p:txBody>
      </p:sp>
      <p:sp>
        <p:nvSpPr>
          <p:cNvPr id="40" name="Shape 38"/>
          <p:cNvSpPr/>
          <p:nvPr/>
        </p:nvSpPr>
        <p:spPr>
          <a:xfrm>
            <a:off x="6446520" y="1828800"/>
            <a:ext cx="4983480" cy="3246120"/>
          </a:xfrm>
          <a:prstGeom prst="roundRect">
            <a:avLst>
              <a:gd name="adj" fmla="val 2254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693408" y="2057400"/>
            <a:ext cx="292608" cy="292608"/>
          </a:xfrm>
          <a:prstGeom prst="ellipse">
            <a:avLst/>
          </a:prstGeom>
          <a:solidFill>
            <a:srgbClr val="A78BFA">
              <a:alpha val="18000"/>
            </a:srgbClr>
          </a:solidFill>
          <a:ln w="12700">
            <a:solidFill>
              <a:srgbClr val="A78BFA">
                <a:alpha val="76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1988" y="2112264"/>
            <a:ext cx="1554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8BFA"/>
                </a:solidFill>
              </a:rPr>
              <a:t>S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086600" y="2112264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</a:rPr>
              <a:t>Skills / 功法注册表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903720" y="2615184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daily_reflection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8942832" y="2615184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8FAFC"/>
                </a:solidFill>
              </a:rPr>
              <a:t>每日复盘</a:t>
            </a:r>
            <a:endParaRPr lang="en-US" sz="1020" dirty="0"/>
          </a:p>
        </p:txBody>
      </p:sp>
      <p:sp>
        <p:nvSpPr>
          <p:cNvPr id="46" name="Text 44"/>
          <p:cNvSpPr/>
          <p:nvPr/>
        </p:nvSpPr>
        <p:spPr>
          <a:xfrm>
            <a:off x="6903720" y="2962656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planning</a:t>
            </a:r>
            <a:endParaRPr lang="en-US" sz="980" dirty="0"/>
          </a:p>
        </p:txBody>
      </p:sp>
      <p:sp>
        <p:nvSpPr>
          <p:cNvPr id="47" name="Text 45"/>
          <p:cNvSpPr/>
          <p:nvPr/>
        </p:nvSpPr>
        <p:spPr>
          <a:xfrm>
            <a:off x="8942832" y="2962656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8FAFC"/>
                </a:solidFill>
              </a:rPr>
              <a:t>周天规划</a:t>
            </a:r>
            <a:endParaRPr lang="en-US" sz="1020" dirty="0"/>
          </a:p>
        </p:txBody>
      </p:sp>
      <p:sp>
        <p:nvSpPr>
          <p:cNvPr id="48" name="Text 46"/>
          <p:cNvSpPr/>
          <p:nvPr/>
        </p:nvSpPr>
        <p:spPr>
          <a:xfrm>
            <a:off x="6903720" y="3310128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obstacle_detection</a:t>
            </a:r>
            <a:endParaRPr lang="en-US" sz="980" dirty="0"/>
          </a:p>
        </p:txBody>
      </p:sp>
      <p:sp>
        <p:nvSpPr>
          <p:cNvPr id="49" name="Text 47"/>
          <p:cNvSpPr/>
          <p:nvPr/>
        </p:nvSpPr>
        <p:spPr>
          <a:xfrm>
            <a:off x="8942832" y="3310128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8FAFC"/>
                </a:solidFill>
              </a:rPr>
              <a:t>心魔识别</a:t>
            </a:r>
            <a:endParaRPr lang="en-US" sz="1020" dirty="0"/>
          </a:p>
        </p:txBody>
      </p:sp>
      <p:sp>
        <p:nvSpPr>
          <p:cNvPr id="50" name="Text 48"/>
          <p:cNvSpPr/>
          <p:nvPr/>
        </p:nvSpPr>
        <p:spPr>
          <a:xfrm>
            <a:off x="6903720" y="3657600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memory_consolidation</a:t>
            </a:r>
            <a:endParaRPr lang="en-US" sz="980" dirty="0"/>
          </a:p>
        </p:txBody>
      </p:sp>
      <p:sp>
        <p:nvSpPr>
          <p:cNvPr id="51" name="Text 49"/>
          <p:cNvSpPr/>
          <p:nvPr/>
        </p:nvSpPr>
        <p:spPr>
          <a:xfrm>
            <a:off x="8942832" y="3657600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8FAFC"/>
                </a:solidFill>
              </a:rPr>
              <a:t>记忆凝练</a:t>
            </a:r>
            <a:endParaRPr lang="en-US" sz="1020" dirty="0"/>
          </a:p>
        </p:txBody>
      </p:sp>
      <p:sp>
        <p:nvSpPr>
          <p:cNvPr id="52" name="Text 50"/>
          <p:cNvSpPr/>
          <p:nvPr/>
        </p:nvSpPr>
        <p:spPr>
          <a:xfrm>
            <a:off x="6903720" y="4005072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project_breakdown</a:t>
            </a:r>
            <a:endParaRPr lang="en-US" sz="980" dirty="0"/>
          </a:p>
        </p:txBody>
      </p:sp>
      <p:sp>
        <p:nvSpPr>
          <p:cNvPr id="53" name="Text 51"/>
          <p:cNvSpPr/>
          <p:nvPr/>
        </p:nvSpPr>
        <p:spPr>
          <a:xfrm>
            <a:off x="8942832" y="400507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8FAFC"/>
                </a:solidFill>
              </a:rPr>
              <a:t>项目拆解</a:t>
            </a:r>
            <a:endParaRPr lang="en-US" sz="1020" dirty="0"/>
          </a:p>
        </p:txBody>
      </p:sp>
      <p:sp>
        <p:nvSpPr>
          <p:cNvPr id="54" name="Text 52"/>
          <p:cNvSpPr/>
          <p:nvPr/>
        </p:nvSpPr>
        <p:spPr>
          <a:xfrm>
            <a:off x="6903720" y="46177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6C768"/>
                </a:solidFill>
              </a:rPr>
              <a:t>Skill Evolution 示例：planning.intensity 下调、taskGranularity -&gt; micro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B28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840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5EEAD4"/>
                </a:solidFill>
              </a:rPr>
              <a:t>SELF-EVOLUTION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65836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自进化不是玄学，是明确的反馈回路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566928" y="129844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CA3AF"/>
                </a:solidFill>
              </a:rPr>
              <a:t>Feedback + Dreaming + Harness Trace，让 Agent 的变化可以被解释</a:t>
            </a: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868680" y="1783080"/>
            <a:ext cx="10469880" cy="841248"/>
          </a:xfrm>
          <a:prstGeom prst="roundRect">
            <a:avLst>
              <a:gd name="adj" fmla="val 8696"/>
            </a:avLst>
          </a:prstGeom>
          <a:solidFill>
            <a:srgbClr val="0B1732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1143000" y="19476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</a:rPr>
              <a:t>Feedback Evolution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611880" y="1947672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CBD5E1"/>
                </a:solidFill>
              </a:rPr>
              <a:t>用户评价计划太重 / 刚刚好 / 有帮助</a:t>
            </a:r>
            <a:endParaRPr lang="en-US" sz="1120" dirty="0"/>
          </a:p>
        </p:txBody>
      </p:sp>
      <p:sp>
        <p:nvSpPr>
          <p:cNvPr id="37" name="Text 35"/>
          <p:cNvSpPr/>
          <p:nvPr/>
        </p:nvSpPr>
        <p:spPr>
          <a:xfrm>
            <a:off x="7022592" y="19019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</a:rPr>
              <a:t>→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452360" y="1947672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F8FAFC"/>
                </a:solidFill>
              </a:rPr>
              <a:t>调整 Skill 参数与后续策略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868680" y="2953512"/>
            <a:ext cx="10469880" cy="841248"/>
          </a:xfrm>
          <a:prstGeom prst="roundRect">
            <a:avLst>
              <a:gd name="adj" fmla="val 8696"/>
            </a:avLst>
          </a:prstGeom>
          <a:solidFill>
            <a:srgbClr val="101638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143000" y="311810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Dreaming Mechanism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611880" y="3118104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CBD5E1"/>
                </a:solidFill>
              </a:rPr>
              <a:t>离线读取近期 traces / logs / feedbacks</a:t>
            </a:r>
            <a:endParaRPr lang="en-US" sz="1120" dirty="0"/>
          </a:p>
        </p:txBody>
      </p:sp>
      <p:sp>
        <p:nvSpPr>
          <p:cNvPr id="42" name="Text 40"/>
          <p:cNvSpPr/>
          <p:nvPr/>
        </p:nvSpPr>
        <p:spPr>
          <a:xfrm>
            <a:off x="7022592" y="3072384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</a:rPr>
              <a:t>→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452360" y="311810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F8FAFC"/>
                </a:solidFill>
              </a:rPr>
              <a:t>沉淀长期模式与下一轮实验</a:t>
            </a:r>
            <a:endParaRPr lang="en-US" sz="1120" dirty="0"/>
          </a:p>
        </p:txBody>
      </p:sp>
      <p:sp>
        <p:nvSpPr>
          <p:cNvPr id="44" name="Shape 42"/>
          <p:cNvSpPr/>
          <p:nvPr/>
        </p:nvSpPr>
        <p:spPr>
          <a:xfrm>
            <a:off x="868680" y="4123944"/>
            <a:ext cx="10469880" cy="841248"/>
          </a:xfrm>
          <a:prstGeom prst="roundRect">
            <a:avLst>
              <a:gd name="adj" fmla="val 8696"/>
            </a:avLst>
          </a:prstGeom>
          <a:solidFill>
            <a:srgbClr val="0B1732">
              <a:alpha val="90000"/>
            </a:srgbClr>
          </a:solidFill>
          <a:ln w="13335">
            <a:solidFill>
              <a:srgbClr val="F6C768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143000" y="428853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C768"/>
                </a:solidFill>
              </a:rPr>
              <a:t>Trace Evidence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611880" y="4288536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CBD5E1"/>
                </a:solidFill>
              </a:rPr>
              <a:t>每一步有 inputSummary / outputSummary / latency</a:t>
            </a:r>
            <a:endParaRPr lang="en-US" sz="1120" dirty="0"/>
          </a:p>
        </p:txBody>
      </p:sp>
      <p:sp>
        <p:nvSpPr>
          <p:cNvPr id="47" name="Text 45"/>
          <p:cNvSpPr/>
          <p:nvPr/>
        </p:nvSpPr>
        <p:spPr>
          <a:xfrm>
            <a:off x="7022592" y="4242816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C768"/>
                </a:solidFill>
              </a:rPr>
              <a:t>→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7452360" y="428853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F8FAFC"/>
                </a:solidFill>
              </a:rPr>
              <a:t>评委可直接回放工程证据链</a:t>
            </a:r>
            <a:endParaRPr lang="en-US" sz="1120" dirty="0"/>
          </a:p>
        </p:txBody>
      </p:sp>
      <p:sp>
        <p:nvSpPr>
          <p:cNvPr id="49" name="Shape 47"/>
          <p:cNvSpPr/>
          <p:nvPr/>
        </p:nvSpPr>
        <p:spPr>
          <a:xfrm>
            <a:off x="1828800" y="5486400"/>
            <a:ext cx="8549640" cy="512064"/>
          </a:xfrm>
          <a:prstGeom prst="roundRect">
            <a:avLst>
              <a:gd name="adj" fmla="val 14286"/>
            </a:avLst>
          </a:prstGeom>
          <a:solidFill>
            <a:srgbClr val="071426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2103120" y="564184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最终形成：Daily Input -&gt; Memory Retrieval -&gt; Skill Selection -&gt; Reflection -&gt; Evaluation -&gt; Memory Update -&gt; Skill Evolution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22A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840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5EEAD4"/>
                </a:solidFill>
              </a:rPr>
              <a:t>VISUAL PRODUCT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65836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让成长被看见：洞府、长河、灵根与内核舱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566928" y="129844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CA3AF"/>
                </a:solidFill>
              </a:rPr>
              <a:t>视觉不是装饰，而是把抽象成长过程变成可感知体验</a:t>
            </a: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777240" y="1828800"/>
            <a:ext cx="4892040" cy="987552"/>
          </a:xfrm>
          <a:prstGeom prst="roundRect">
            <a:avLst>
              <a:gd name="adj" fmla="val 7407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1005840" y="20574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</a:rPr>
              <a:t>洞府总览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2514600" y="20574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F8FAFC"/>
                </a:solidFill>
              </a:rPr>
              <a:t>动态 Life Core、境界进度、当前心魔、修炼摘要</a:t>
            </a:r>
            <a:endParaRPr lang="en-US" sz="1060" dirty="0"/>
          </a:p>
        </p:txBody>
      </p:sp>
      <p:sp>
        <p:nvSpPr>
          <p:cNvPr id="37" name="Shape 35"/>
          <p:cNvSpPr/>
          <p:nvPr/>
        </p:nvSpPr>
        <p:spPr>
          <a:xfrm>
            <a:off x="6263640" y="1828800"/>
            <a:ext cx="4892040" cy="987552"/>
          </a:xfrm>
          <a:prstGeom prst="roundRect">
            <a:avLst>
              <a:gd name="adj" fmla="val 7407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492240" y="20574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</a:rPr>
              <a:t>修炼日志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001000" y="20574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F8FAFC"/>
                </a:solidFill>
              </a:rPr>
              <a:t>居中输入、图片上传、提交后显示 Agent 解析</a:t>
            </a:r>
            <a:endParaRPr lang="en-US" sz="1060" dirty="0"/>
          </a:p>
        </p:txBody>
      </p:sp>
      <p:sp>
        <p:nvSpPr>
          <p:cNvPr id="40" name="Shape 38"/>
          <p:cNvSpPr/>
          <p:nvPr/>
        </p:nvSpPr>
        <p:spPr>
          <a:xfrm>
            <a:off x="777240" y="3255264"/>
            <a:ext cx="4892040" cy="987552"/>
          </a:xfrm>
          <a:prstGeom prst="roundRect">
            <a:avLst>
              <a:gd name="adj" fmla="val 7407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005840" y="348386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</a:rPr>
              <a:t>成长轨迹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2514600" y="3483864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F8FAFC"/>
                </a:solidFill>
              </a:rPr>
              <a:t>命运长河瀑布流、趋势图谱、灵根目录</a:t>
            </a:r>
            <a:endParaRPr lang="en-US" sz="1060" dirty="0"/>
          </a:p>
        </p:txBody>
      </p:sp>
      <p:sp>
        <p:nvSpPr>
          <p:cNvPr id="43" name="Shape 41"/>
          <p:cNvSpPr/>
          <p:nvPr/>
        </p:nvSpPr>
        <p:spPr>
          <a:xfrm>
            <a:off x="6263640" y="3255264"/>
            <a:ext cx="4892040" cy="987552"/>
          </a:xfrm>
          <a:prstGeom prst="roundRect">
            <a:avLst>
              <a:gd name="adj" fmla="val 7407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92240" y="348386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</a:rPr>
              <a:t>内核舱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001000" y="3483864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F8FAFC"/>
                </a:solidFill>
              </a:rPr>
              <a:t>产品化展示 Memory / Skills / Feedback / Dreaming</a:t>
            </a:r>
            <a:endParaRPr lang="en-US" sz="1060" dirty="0"/>
          </a:p>
        </p:txBody>
      </p:sp>
      <p:sp>
        <p:nvSpPr>
          <p:cNvPr id="46" name="Text 44"/>
          <p:cNvSpPr/>
          <p:nvPr/>
        </p:nvSpPr>
        <p:spPr>
          <a:xfrm>
            <a:off x="822960" y="52120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C768"/>
                </a:solidFill>
              </a:rPr>
              <a:t>Demo 主线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1920240" y="519379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打开洞府 → 提交今日日志 → 查看 Agent 解析 → 一键闭环 → 进入内核舱看 Memory / Skills / Dreaming / Harness 证据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B28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840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5EEAD4"/>
                </a:solidFill>
              </a:rPr>
              <a:t>WHY IT MATTERS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65836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LifeOS Agent：让一个人的长期成长拥有反馈系统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566928" y="129844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CA3AF"/>
                </a:solidFill>
              </a:rPr>
              <a:t>不是普通日程，不是一次性聊天，而是可记忆、可回放、可进化的个人 Agent</a:t>
            </a: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822960" y="2011680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1097280" y="23317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</a:rPr>
              <a:t>产品价值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097280" y="277977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解决独自学习/做项目时的长期陪伴、复盘与方向感问题。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617720" y="2011680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4892040" y="23317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</a:rPr>
              <a:t>技术亮点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4892040" y="277977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Agent Harness + Memory + Skills + Dreaming + 文件系统内存。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412480" y="2011680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F6C768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686800" y="23317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C768"/>
                </a:solidFill>
              </a:rPr>
              <a:t>路演亮点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8686800" y="277977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修仙框架让成长可视化，工程证据证明 Agent 真实闭环。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143000" y="44805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</a:rPr>
              <a:t>“在 LifeOS 里，功法就是 Skills，心魔就是阻碍模式，境界就是长期成长轨迹。修仙不是皮肤，而是一套可解释、可视化、可进化的个人成长模型。”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4937760" y="5715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EEAD4"/>
                </a:solidFill>
              </a:rPr>
              <a:t>Thank you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OPC Hackathon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LifeOS Agent 路演PPT</dc:title>
  <dc:subject>LifeOS Agent pitch deck</dc:subject>
  <dc:creator>LifeOS Agent Team</dc:creator>
  <cp:lastModifiedBy>LifeOS Agent Team</cp:lastModifiedBy>
  <cp:revision>1</cp:revision>
  <dcterms:created xsi:type="dcterms:W3CDTF">2026-06-30T07:32:21Z</dcterms:created>
  <dcterms:modified xsi:type="dcterms:W3CDTF">2026-06-30T07:32:21Z</dcterms:modified>
</cp:coreProperties>
</file>